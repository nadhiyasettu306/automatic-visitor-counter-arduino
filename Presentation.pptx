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sldIdLst>
    <p:sldId id="267" r:id="rId2"/>
    <p:sldId id="266" r:id="rId3"/>
    <p:sldId id="258" r:id="rId4"/>
    <p:sldId id="259" r:id="rId5"/>
    <p:sldId id="260" r:id="rId6"/>
    <p:sldId id="269" r:id="rId7"/>
    <p:sldId id="268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Title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62399" y="1964267"/>
            <a:ext cx="7197726" cy="2421464"/>
          </a:xfrm>
        </p:spPr>
        <p:txBody>
          <a:bodyPr anchor="b">
            <a:normAutofit/>
          </a:bodyPr>
          <a:lstStyle>
            <a:lvl1pPr algn="r">
              <a:defRPr sz="48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3962399" y="4385732"/>
            <a:ext cx="7197726" cy="1405467"/>
          </a:xfrm>
        </p:spPr>
        <p:txBody>
          <a:bodyPr anchor="t">
            <a:normAutofit/>
          </a:bodyPr>
          <a:lstStyle>
            <a:lvl1pPr marL="0" indent="0" algn="r">
              <a:buNone/>
              <a:defRPr sz="1800" cap="all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32558" y="5870575"/>
            <a:ext cx="1600200" cy="377825"/>
          </a:xfrm>
        </p:spPr>
        <p:txBody>
          <a:bodyPr/>
          <a:lstStyle/>
          <a:p>
            <a:fld id="{D28D5D38-C4D9-4DC7-9F6B-B06ECDC9E0D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3962399" y="5870575"/>
            <a:ext cx="4893958" cy="3778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608958" y="5870575"/>
            <a:ext cx="551167" cy="377825"/>
          </a:xfrm>
        </p:spPr>
        <p:txBody>
          <a:bodyPr/>
          <a:lstStyle/>
          <a:p>
            <a:fld id="{4964A733-373C-4187-B860-ED92EF0F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46234290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5D38-C4D9-4DC7-9F6B-B06ECDC9E0D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4A733-373C-4187-B860-ED92EF0F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8904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3308581"/>
            <a:ext cx="10131427" cy="1468800"/>
          </a:xfrm>
        </p:spPr>
        <p:txBody>
          <a:bodyPr anchor="b"/>
          <a:lstStyle>
            <a:lvl1pPr algn="l">
              <a:defRPr sz="40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7381"/>
            <a:ext cx="10131428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 cap="all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5D38-C4D9-4DC7-9F6B-B06ECDC9E0D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4A733-373C-4187-B860-ED92EF0F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824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5802" y="2142067"/>
            <a:ext cx="4995334" cy="3649134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21895" y="2142067"/>
            <a:ext cx="4995332" cy="3649133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5D38-C4D9-4DC7-9F6B-B06ECDC9E0D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4A733-373C-4187-B860-ED92EF0F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4334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3670" y="2218267"/>
            <a:ext cx="470905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5801" y="2870201"/>
            <a:ext cx="4996923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96003" y="2226734"/>
            <a:ext cx="4722813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23483" y="2870201"/>
            <a:ext cx="4995334" cy="2920998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5D38-C4D9-4DC7-9F6B-B06ECDC9E0D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4A733-373C-4187-B860-ED92EF0F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41716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5D38-C4D9-4DC7-9F6B-B06ECDC9E0D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4A733-373C-4187-B860-ED92EF0F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0509085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5D38-C4D9-4DC7-9F6B-B06ECDC9E0D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4A733-373C-4187-B860-ED92EF0F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07634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2074333"/>
            <a:ext cx="3680885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48201" y="609601"/>
            <a:ext cx="6169026" cy="51816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3445933"/>
            <a:ext cx="3680885" cy="1828800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5D38-C4D9-4DC7-9F6B-B06ECDC9E0D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4A733-373C-4187-B860-ED92EF0F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01214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1600200"/>
            <a:ext cx="6164653" cy="13716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36253" y="914400"/>
            <a:ext cx="3280974" cy="4572000"/>
          </a:xfrm>
          <a:prstGeom prst="roundRect">
            <a:avLst>
              <a:gd name="adj" fmla="val 42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2971800"/>
            <a:ext cx="6164653" cy="1828800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5D38-C4D9-4DC7-9F6B-B06ECDC9E0D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4A733-373C-4187-B860-ED92EF0F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347308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0" y="4732865"/>
            <a:ext cx="1013142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371600" y="932112"/>
            <a:ext cx="8759827" cy="3164976"/>
          </a:xfrm>
          <a:prstGeom prst="roundRect">
            <a:avLst>
              <a:gd name="adj" fmla="val 4380"/>
            </a:avLst>
          </a:prstGeom>
          <a:ln w="50800" cap="sq" cmpd="dbl">
            <a:gradFill flip="none" rotWithShape="1">
              <a:gsLst>
                <a:gs pos="0">
                  <a:srgbClr val="FFFFFF"/>
                </a:gs>
                <a:gs pos="100000">
                  <a:schemeClr val="tx1">
                    <a:alpha val="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miter lim="800000"/>
          </a:ln>
          <a:effectLst>
            <a:outerShdw blurRad="254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800" y="5299603"/>
            <a:ext cx="10131427" cy="49371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5D38-C4D9-4DC7-9F6B-B06ECDC9E0D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4A733-373C-4187-B860-ED92EF0F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68906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3124199"/>
          </a:xfrm>
        </p:spPr>
        <p:txBody>
          <a:bodyPr anchor="ctr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5D38-C4D9-4DC7-9F6B-B06ECDC9E0D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4A733-373C-4187-B860-ED92EF0F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187307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097875" y="3352800"/>
            <a:ext cx="9339184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7465" y="4343400"/>
            <a:ext cx="10152367" cy="14478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5D38-C4D9-4DC7-9F6B-B06ECDC9E0D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4A733-373C-4187-B860-ED92EF0F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2057941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2" y="3308581"/>
            <a:ext cx="10131425" cy="1468800"/>
          </a:xfrm>
        </p:spPr>
        <p:txBody>
          <a:bodyPr anchor="b">
            <a:normAutofit/>
          </a:bodyPr>
          <a:lstStyle>
            <a:lvl1pPr algn="l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4777381"/>
            <a:ext cx="10131426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5D38-C4D9-4DC7-9F6B-B06ECDC9E0D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4A733-373C-4187-B860-ED92EF0F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03909610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10237867" y="2743200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8275" y="823337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6" name="Title 1"/>
          <p:cNvSpPr>
            <a:spLocks noGrp="1"/>
          </p:cNvSpPr>
          <p:nvPr>
            <p:ph type="title"/>
          </p:nvPr>
        </p:nvSpPr>
        <p:spPr>
          <a:xfrm>
            <a:off x="992267" y="609601"/>
            <a:ext cx="9550399" cy="2743199"/>
          </a:xfrm>
        </p:spPr>
        <p:txBody>
          <a:bodyPr anchor="ctr">
            <a:normAutofit/>
          </a:bodyPr>
          <a:lstStyle>
            <a:lvl1pPr algn="l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0" y="3886200"/>
            <a:ext cx="10135436" cy="8890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799" y="4775200"/>
            <a:ext cx="10135436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5D38-C4D9-4DC7-9F6B-B06ECDC9E0D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4A733-373C-4187-B860-ED92EF0F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8884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801" y="609601"/>
            <a:ext cx="10131427" cy="2743199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5801" y="3505200"/>
            <a:ext cx="10131428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0" y="4343400"/>
            <a:ext cx="10131428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5D38-C4D9-4DC7-9F6B-B06ECDC9E0D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4A733-373C-4187-B860-ED92EF0F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7478997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5D38-C4D9-4DC7-9F6B-B06ECDC9E0D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4A733-373C-4187-B860-ED92EF0FF80B}" type="slidenum">
              <a:rPr lang="en-IN" smtClean="0"/>
              <a:t>‹#›</a:t>
            </a:fld>
            <a:endParaRPr lang="en-IN"/>
          </a:p>
        </p:txBody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4657145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Celestia-R1---OverlayContentH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88825" cy="6856214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8675" y="609599"/>
            <a:ext cx="2158552" cy="5181601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7832116" cy="51816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8D5D38-C4D9-4DC7-9F6B-B06ECDC9E0D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964A733-373C-4187-B860-ED92EF0F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44373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801" y="609600"/>
            <a:ext cx="10131425" cy="14562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801" y="2142067"/>
            <a:ext cx="10131425" cy="364913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589660" y="5870575"/>
            <a:ext cx="1600200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D28D5D38-C4D9-4DC7-9F6B-B06ECDC9E0DA}" type="datetimeFigureOut">
              <a:rPr lang="en-IN" smtClean="0"/>
              <a:t>17-12-2025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800" y="5870575"/>
            <a:ext cx="7827659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66060" y="5870575"/>
            <a:ext cx="551167" cy="3778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4964A733-373C-4187-B860-ED92EF0FF80B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78417823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747" r:id="rId1"/>
    <p:sldLayoutId id="2147483748" r:id="rId2"/>
    <p:sldLayoutId id="2147483749" r:id="rId3"/>
    <p:sldLayoutId id="2147483750" r:id="rId4"/>
    <p:sldLayoutId id="2147483751" r:id="rId5"/>
    <p:sldLayoutId id="2147483752" r:id="rId6"/>
    <p:sldLayoutId id="2147483753" r:id="rId7"/>
    <p:sldLayoutId id="2147483754" r:id="rId8"/>
    <p:sldLayoutId id="2147483755" r:id="rId9"/>
    <p:sldLayoutId id="2147483756" r:id="rId10"/>
    <p:sldLayoutId id="2147483757" r:id="rId11"/>
    <p:sldLayoutId id="2147483758" r:id="rId12"/>
    <p:sldLayoutId id="2147483759" r:id="rId13"/>
    <p:sldLayoutId id="2147483760" r:id="rId14"/>
    <p:sldLayoutId id="2147483761" r:id="rId15"/>
    <p:sldLayoutId id="2147483762" r:id="rId16"/>
    <p:sldLayoutId id="2147483763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0"/>
        </a:spcBef>
        <a:spcAft>
          <a:spcPts val="1000"/>
        </a:spcAft>
        <a:buClr>
          <a:schemeClr val="tx1"/>
        </a:buClr>
        <a:buSzPct val="100000"/>
        <a:buFont typeface="Arial"/>
        <a:buChar char="•"/>
        <a:defRPr sz="12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BF097BED-2DAB-FC53-EC05-19AD66389710}"/>
              </a:ext>
            </a:extLst>
          </p:cNvPr>
          <p:cNvSpPr txBox="1"/>
          <p:nvPr/>
        </p:nvSpPr>
        <p:spPr>
          <a:xfrm>
            <a:off x="1268824" y="400523"/>
            <a:ext cx="1019605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ADHIYAMAAN COLLEGE OF ENGINEERING</a:t>
            </a:r>
            <a:endParaRPr lang="en-IN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06E4EB8F-A2F7-FBBD-EF78-F526AC312BAF}"/>
              </a:ext>
            </a:extLst>
          </p:cNvPr>
          <p:cNvSpPr txBox="1"/>
          <p:nvPr/>
        </p:nvSpPr>
        <p:spPr>
          <a:xfrm>
            <a:off x="353961" y="1948725"/>
            <a:ext cx="8291693" cy="95410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800" b="1" dirty="0">
                <a:latin typeface="Bell MT" panose="02020503060305020303" pitchFamily="18" charset="0"/>
                <a:cs typeface="Times New Roman" panose="02020603050405020304" pitchFamily="18" charset="0"/>
              </a:rPr>
              <a:t>Human Detection Based </a:t>
            </a:r>
            <a:r>
              <a:rPr lang="en-US" sz="2800" b="1" dirty="0" err="1">
                <a:latin typeface="Bell MT" panose="02020503060305020303" pitchFamily="18" charset="0"/>
                <a:cs typeface="Times New Roman" panose="02020603050405020304" pitchFamily="18" charset="0"/>
              </a:rPr>
              <a:t>AutomaticVisitor</a:t>
            </a:r>
            <a:r>
              <a:rPr lang="en-US" sz="2800" b="1" dirty="0">
                <a:latin typeface="Bell MT" panose="02020503060305020303" pitchFamily="18" charset="0"/>
                <a:cs typeface="Times New Roman" panose="02020603050405020304" pitchFamily="18" charset="0"/>
              </a:rPr>
              <a:t> Counter </a:t>
            </a:r>
          </a:p>
          <a:p>
            <a:r>
              <a:rPr lang="en-US" sz="2800" b="1" dirty="0">
                <a:latin typeface="Bell MT" panose="02020503060305020303" pitchFamily="18" charset="0"/>
                <a:cs typeface="Times New Roman" panose="02020603050405020304" pitchFamily="18" charset="0"/>
              </a:rPr>
              <a:t>Using PIR+ULTRASONIC SENSOR</a:t>
            </a:r>
            <a:endParaRPr lang="en-IN" sz="2800" b="1" dirty="0">
              <a:latin typeface="Bell MT" panose="02020503060305020303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B70CFA6-79FB-6A38-5D11-CFB450EC1AB5}"/>
              </a:ext>
            </a:extLst>
          </p:cNvPr>
          <p:cNvSpPr txBox="1"/>
          <p:nvPr/>
        </p:nvSpPr>
        <p:spPr>
          <a:xfrm>
            <a:off x="353961" y="4758813"/>
            <a:ext cx="4254691" cy="14773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         </a:t>
            </a:r>
            <a:r>
              <a:rPr lang="en-US" dirty="0">
                <a:latin typeface="Bell MT" panose="02020503060305020303" pitchFamily="18" charset="0"/>
              </a:rPr>
              <a:t> TEAM MEMBERS</a:t>
            </a:r>
          </a:p>
          <a:p>
            <a:r>
              <a:rPr lang="en-US" dirty="0">
                <a:latin typeface="Bell MT" panose="02020503060305020303" pitchFamily="18" charset="0"/>
              </a:rPr>
              <a:t>ISHWARYA R (6176AC23UAD016)</a:t>
            </a:r>
          </a:p>
          <a:p>
            <a:r>
              <a:rPr lang="en-US" dirty="0">
                <a:latin typeface="Bell MT" panose="02020503060305020303" pitchFamily="18" charset="0"/>
              </a:rPr>
              <a:t>NADHIYA S (6176AC23UAD036)</a:t>
            </a:r>
          </a:p>
          <a:p>
            <a:r>
              <a:rPr lang="en-US" dirty="0">
                <a:latin typeface="Bell MT" panose="02020503060305020303" pitchFamily="18" charset="0"/>
              </a:rPr>
              <a:t>MADHUMITHA M (6176AC23UAD029)</a:t>
            </a:r>
          </a:p>
          <a:p>
            <a:r>
              <a:rPr lang="en-US" dirty="0">
                <a:latin typeface="Bell MT" panose="02020503060305020303" pitchFamily="18" charset="0"/>
              </a:rPr>
              <a:t>ANANDHI D (6176AC23UAD006)</a:t>
            </a:r>
            <a:endParaRPr lang="en-IN" dirty="0">
              <a:latin typeface="Bell MT" panose="02020503060305020303" pitchFamily="18" charset="0"/>
            </a:endParaRPr>
          </a:p>
        </p:txBody>
      </p:sp>
      <p:pic>
        <p:nvPicPr>
          <p:cNvPr id="1026" name="Picture 2">
            <a:extLst>
              <a:ext uri="{FF2B5EF4-FFF2-40B4-BE49-F238E27FC236}">
                <a16:creationId xmlns:a16="http://schemas.microsoft.com/office/drawing/2014/main" id="{1CDEDEF6-3FA7-28BE-69A1-5AC8D307E34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65460" y="400522"/>
            <a:ext cx="923330" cy="646331"/>
          </a:xfrm>
          <a:prstGeom prst="roundRect">
            <a:avLst>
              <a:gd name="adj" fmla="val 16667"/>
            </a:avLst>
          </a:prstGeom>
          <a:ln>
            <a:noFill/>
          </a:ln>
          <a:effectLst>
            <a:outerShdw blurRad="76200" dist="38100" dir="78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contrasting" dir="t">
              <a:rot lat="0" lon="0" rev="4200000"/>
            </a:lightRig>
          </a:scene3d>
          <a:sp3d prstMaterial="plastic">
            <a:bevelT w="381000" h="114300" prst="relaxedInset"/>
            <a:contourClr>
              <a:srgbClr val="969696"/>
            </a:contourClr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028" name="Picture 4">
            <a:extLst>
              <a:ext uri="{FF2B5EF4-FFF2-40B4-BE49-F238E27FC236}">
                <a16:creationId xmlns:a16="http://schemas.microsoft.com/office/drawing/2014/main" id="{C3B4E43F-72B3-3021-638E-5A61E2F6844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66850" y="3333134"/>
            <a:ext cx="5825150" cy="3524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17566936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90D5F7-5C1E-9070-B96A-32EF0CFAFB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437C782-6B44-137F-C9AC-B671271FF19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652" y="1337733"/>
            <a:ext cx="10131425" cy="3649133"/>
          </a:xfrm>
        </p:spPr>
        <p:txBody>
          <a:bodyPr>
            <a:norm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automatic visitor counter is a system used to count the number of people entering or exiting a particular area. In this project,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PIR and Ultrasonic sensors are combined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improve accuracy. The PIR sensor detects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human motion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while the ultrasonic sensor measures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distance and movement direction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Arduino UNO processes the sensor data and displays the visitor count on an LCD display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1655636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E316D8-AE9D-C7EA-4CE0-4BD3D857F96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COMPONENTS USED</a:t>
            </a:r>
            <a:br>
              <a:rPr lang="en-IN" b="1" dirty="0"/>
            </a:b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579BE8-86EE-9C84-5435-28A2737E09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199" y="1317523"/>
            <a:ext cx="9957619" cy="485944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b="1" dirty="0"/>
              <a:t> </a:t>
            </a:r>
          </a:p>
          <a:p>
            <a:r>
              <a:rPr lang="en-IN" sz="2400" b="1" dirty="0"/>
              <a:t>Arduino UNO:</a:t>
            </a:r>
            <a:r>
              <a:rPr lang="en-IN" sz="2400" dirty="0"/>
              <a:t> Main controller that processes sensor data.</a:t>
            </a:r>
          </a:p>
          <a:p>
            <a:r>
              <a:rPr lang="en-IN" sz="2400" b="1" dirty="0"/>
              <a:t>PIR Sensor:</a:t>
            </a:r>
            <a:r>
              <a:rPr lang="en-IN" sz="2400" dirty="0"/>
              <a:t> Detects human motion using body heat.</a:t>
            </a:r>
          </a:p>
          <a:p>
            <a:r>
              <a:rPr lang="en-IN" sz="2400" b="1" dirty="0"/>
              <a:t>Ultrasonic Sensor:</a:t>
            </a:r>
            <a:r>
              <a:rPr lang="en-IN" sz="2400" dirty="0"/>
              <a:t> Measures distance to detect entry/exit.</a:t>
            </a:r>
          </a:p>
          <a:p>
            <a:r>
              <a:rPr lang="en-IN" sz="2400" b="1" dirty="0"/>
              <a:t>LCD Display:</a:t>
            </a:r>
            <a:r>
              <a:rPr lang="en-IN" sz="2400" dirty="0"/>
              <a:t> Shows current visitor count.</a:t>
            </a:r>
          </a:p>
          <a:p>
            <a:r>
              <a:rPr lang="en-IN" sz="2400" b="1" dirty="0"/>
              <a:t>Breadboard &amp; Wires:</a:t>
            </a:r>
            <a:r>
              <a:rPr lang="en-IN" sz="2400" dirty="0"/>
              <a:t> For connecting components.</a:t>
            </a:r>
          </a:p>
          <a:p>
            <a:r>
              <a:rPr lang="en-IN" sz="2400" b="1" dirty="0"/>
              <a:t>USB Cable:</a:t>
            </a:r>
            <a:r>
              <a:rPr lang="en-IN" sz="2400" dirty="0"/>
              <a:t> Powers Arduino and uploads code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2397713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C86794-3007-9E5F-EBC9-6787AA803C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913967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WORKING PRINCIPLE</a:t>
            </a:r>
          </a:p>
        </p:txBody>
      </p:sp>
      <p:pic>
        <p:nvPicPr>
          <p:cNvPr id="8" name="Picture 2" descr="How a PIR Motion Sensor Works? Learn with Diagram - ETechnoG">
            <a:extLst>
              <a:ext uri="{FF2B5EF4-FFF2-40B4-BE49-F238E27FC236}">
                <a16:creationId xmlns:a16="http://schemas.microsoft.com/office/drawing/2014/main" id="{D81CE1AF-D789-8ECD-E73F-B97CBCDD3B70}"/>
              </a:ext>
            </a:extLst>
          </p:cNvPr>
          <p:cNvPicPr>
            <a:picLocks noGrp="1" noChangeAspect="1" noChangeArrowheads="1"/>
          </p:cNvPicPr>
          <p:nvPr>
            <p:ph sz="half" idx="2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854407" y="1413654"/>
            <a:ext cx="4392853" cy="5444346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" name="Rectangle 2">
            <a:extLst>
              <a:ext uri="{FF2B5EF4-FFF2-40B4-BE49-F238E27FC236}">
                <a16:creationId xmlns:a16="http://schemas.microsoft.com/office/drawing/2014/main" id="{482D501D-E0E8-CEB4-846D-07AF61E55E5A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247194" y="1428247"/>
            <a:ext cx="7087671" cy="507677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USB cable supplies power to the Arduino and initializes all connected components.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PIR sensor continuously monitors the entrance and detects human motion using infrared radiation.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When a human is detected, the PIR sensor sends a signal to the Arduino.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After human confirmation, the ultrasonic sensor measures the distance to track movement through the entrance.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Arduino processes data from both sensors to determine whether the person is entering or exiting.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Based on the detected movement, the visitor count is increased or decreased.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updated visitor count is displayed on the LCD in real time.</a:t>
            </a:r>
          </a:p>
        </p:txBody>
      </p:sp>
    </p:spTree>
    <p:extLst>
      <p:ext uri="{BB962C8B-B14F-4D97-AF65-F5344CB8AC3E}">
        <p14:creationId xmlns:p14="http://schemas.microsoft.com/office/powerpoint/2010/main" val="1716960610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9B69C7-83AC-70D6-DC50-EBE460BCED3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6111" y="963560"/>
            <a:ext cx="9404723" cy="889687"/>
          </a:xfrm>
        </p:spPr>
        <p:txBody>
          <a:bodyPr>
            <a:normAutofit/>
          </a:bodyPr>
          <a:lstStyle/>
          <a:p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FUTURE SCOPE               APPLICATION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6463B05-48C7-D5B4-9E44-33A62F29CC0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pPr>
              <a:lnSpc>
                <a:spcPct val="150000"/>
              </a:lnSpc>
            </a:pPr>
            <a:r>
              <a:rPr lang="en-US" dirty="0"/>
              <a:t>Shopping malls and supermarkets</a:t>
            </a:r>
          </a:p>
          <a:p>
            <a:pPr>
              <a:lnSpc>
                <a:spcPct val="150000"/>
              </a:lnSpc>
            </a:pPr>
            <a:r>
              <a:rPr lang="en-US" dirty="0"/>
              <a:t>Libraries and educational institutions</a:t>
            </a:r>
          </a:p>
          <a:p>
            <a:pPr>
              <a:lnSpc>
                <a:spcPct val="150000"/>
              </a:lnSpc>
            </a:pPr>
            <a:r>
              <a:rPr lang="en-US" dirty="0"/>
              <a:t>Offices and conference halls</a:t>
            </a:r>
          </a:p>
          <a:p>
            <a:pPr>
              <a:lnSpc>
                <a:spcPct val="150000"/>
              </a:lnSpc>
            </a:pPr>
            <a:r>
              <a:rPr lang="en-US" dirty="0"/>
              <a:t>Public buildings and museums</a:t>
            </a:r>
          </a:p>
          <a:p>
            <a:pPr>
              <a:lnSpc>
                <a:spcPct val="150000"/>
              </a:lnSpc>
            </a:pPr>
            <a:r>
              <a:rPr lang="en-US" dirty="0"/>
              <a:t>Smart home and security systems</a:t>
            </a:r>
          </a:p>
          <a:p>
            <a:endParaRPr lang="en-IN" dirty="0"/>
          </a:p>
        </p:txBody>
      </p:sp>
      <p:sp>
        <p:nvSpPr>
          <p:cNvPr id="7" name="Rectangle 1">
            <a:extLst>
              <a:ext uri="{FF2B5EF4-FFF2-40B4-BE49-F238E27FC236}">
                <a16:creationId xmlns:a16="http://schemas.microsoft.com/office/drawing/2014/main" id="{57CD99F4-5F6D-7B97-A9D7-EE54B551BA16}"/>
              </a:ext>
            </a:extLst>
          </p:cNvPr>
          <p:cNvSpPr>
            <a:spLocks noGrp="1" noChangeArrowheads="1"/>
          </p:cNvSpPr>
          <p:nvPr>
            <p:ph sz="half" idx="1"/>
          </p:nvPr>
        </p:nvSpPr>
        <p:spPr bwMode="auto">
          <a:xfrm>
            <a:off x="646111" y="2539409"/>
            <a:ext cx="4917308" cy="212686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Integration with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IoT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cloud-based data storage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Adding </a:t>
            </a:r>
            <a:r>
              <a:rPr kumimoji="0" lang="en-US" altLang="en-US" sz="18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camera and AI</a:t>
            </a: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for higher accuracy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Mobile app for real-time monitoring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Automatic occupancy limit alert system</a:t>
            </a:r>
          </a:p>
          <a:p>
            <a:pPr marL="0" marR="0" lvl="0" indent="0" algn="l" defTabSz="914400" rtl="0" eaLnBrk="0" fontAlgn="base" latinLnBrk="0" hangingPunct="0">
              <a:lnSpc>
                <a:spcPct val="15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Gender and age detection using advanced sensor</a:t>
            </a:r>
          </a:p>
        </p:txBody>
      </p:sp>
    </p:spTree>
    <p:extLst>
      <p:ext uri="{BB962C8B-B14F-4D97-AF65-F5344CB8AC3E}">
        <p14:creationId xmlns:p14="http://schemas.microsoft.com/office/powerpoint/2010/main" val="18361849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D953A18-396D-9FF0-78D6-944B8FDCBE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LIMITATION</a:t>
            </a:r>
            <a:endParaRPr lang="en-IN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39CD4A82-FB71-0C98-F6A3-AE4859FB78CE}"/>
              </a:ext>
            </a:extLst>
          </p:cNvPr>
          <p:cNvSpPr>
            <a:spLocks noGrp="1" noChangeArrowheads="1"/>
          </p:cNvSpPr>
          <p:nvPr>
            <p:ph idx="1"/>
          </p:nvPr>
        </p:nvSpPr>
        <p:spPr bwMode="auto">
          <a:xfrm>
            <a:off x="685801" y="1696986"/>
            <a:ext cx="5125063" cy="443839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PIR sensor cannot detect stationary humans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Ultrasonic sensor detects both humans and objects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Close or fast movement may cause counting errors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Limited accuracy in crowded environments</a:t>
            </a:r>
          </a:p>
          <a:p>
            <a:pPr marL="0" marR="0" lvl="0" indent="0" algn="l" defTabSz="914400" rtl="0" eaLnBrk="0" fontAlgn="base" latinLnBrk="0" hangingPunct="0">
              <a:lnSpc>
                <a:spcPct val="2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18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Environmental factors may affect sensor performance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9A20B9E-00AF-1966-5F7B-DA2B7F7022E2}"/>
              </a:ext>
            </a:extLst>
          </p:cNvPr>
          <p:cNvSpPr txBox="1"/>
          <p:nvPr/>
        </p:nvSpPr>
        <p:spPr>
          <a:xfrm>
            <a:off x="7079226" y="959945"/>
            <a:ext cx="331372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  <a:endParaRPr lang="en-IN" sz="3600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3ABF05A-A82C-FFD1-8799-E7EFDAE1046A}"/>
              </a:ext>
            </a:extLst>
          </p:cNvPr>
          <p:cNvSpPr txBox="1"/>
          <p:nvPr/>
        </p:nvSpPr>
        <p:spPr>
          <a:xfrm>
            <a:off x="7079226" y="1956620"/>
            <a:ext cx="4955457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/>
              <a:t>The combination of PIR and ultrasonic sensors provides a </a:t>
            </a:r>
            <a:r>
              <a:rPr lang="en-US" sz="2000" b="1" dirty="0"/>
              <a:t>cost-effective and reliable solution</a:t>
            </a:r>
            <a:r>
              <a:rPr lang="en-US" sz="2000" dirty="0"/>
              <a:t> for automatic visitor counting. PIR sensor ensures </a:t>
            </a:r>
            <a:r>
              <a:rPr lang="en-US" sz="2000" b="1" dirty="0"/>
              <a:t>human detection</a:t>
            </a:r>
            <a:r>
              <a:rPr lang="en-US" sz="2000" dirty="0"/>
              <a:t>, while ultrasonic sensor helps in </a:t>
            </a:r>
            <a:r>
              <a:rPr lang="en-US" sz="2000" b="1" dirty="0"/>
              <a:t>distance measurement and direction analysis</a:t>
            </a:r>
            <a:r>
              <a:rPr lang="en-US" sz="2000" dirty="0"/>
              <a:t>. This combined approach improves accuracy compared to using a single sensor and is suitable for small to medium-scale applications</a:t>
            </a:r>
            <a:endParaRPr lang="en-IN" sz="2000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19829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0850E762-17A2-DAC3-CD31-55568B9AA7BC}"/>
              </a:ext>
            </a:extLst>
          </p:cNvPr>
          <p:cNvSpPr txBox="1"/>
          <p:nvPr/>
        </p:nvSpPr>
        <p:spPr>
          <a:xfrm>
            <a:off x="2753032" y="2248087"/>
            <a:ext cx="7295536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9600" dirty="0"/>
              <a:t>THANK YOU</a:t>
            </a:r>
            <a:endParaRPr lang="en-IN" sz="9600" dirty="0"/>
          </a:p>
        </p:txBody>
      </p:sp>
    </p:spTree>
    <p:extLst>
      <p:ext uri="{BB962C8B-B14F-4D97-AF65-F5344CB8AC3E}">
        <p14:creationId xmlns:p14="http://schemas.microsoft.com/office/powerpoint/2010/main" val="2408429356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elestial">
  <a:themeElements>
    <a:clrScheme name="Celestial">
      <a:dk1>
        <a:sysClr val="windowText" lastClr="000000"/>
      </a:dk1>
      <a:lt1>
        <a:sysClr val="window" lastClr="FFFFFF"/>
      </a:lt1>
      <a:dk2>
        <a:srgbClr val="18276C"/>
      </a:dk2>
      <a:lt2>
        <a:srgbClr val="EBEBEB"/>
      </a:lt2>
      <a:accent1>
        <a:srgbClr val="AC3EC1"/>
      </a:accent1>
      <a:accent2>
        <a:srgbClr val="477BD1"/>
      </a:accent2>
      <a:accent3>
        <a:srgbClr val="46B298"/>
      </a:accent3>
      <a:accent4>
        <a:srgbClr val="90BA4C"/>
      </a:accent4>
      <a:accent5>
        <a:srgbClr val="DD9D31"/>
      </a:accent5>
      <a:accent6>
        <a:srgbClr val="E25247"/>
      </a:accent6>
      <a:hlink>
        <a:srgbClr val="C573D2"/>
      </a:hlink>
      <a:folHlink>
        <a:srgbClr val="CCAEE8"/>
      </a:folHlink>
    </a:clrScheme>
    <a:fontScheme name="Celestial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elestial">
      <a:fillStyleLst>
        <a:solidFill>
          <a:schemeClr val="phClr"/>
        </a:solidFill>
        <a:gradFill rotWithShape="1">
          <a:gsLst>
            <a:gs pos="0">
              <a:schemeClr val="phClr">
                <a:tint val="70000"/>
                <a:lumMod val="110000"/>
              </a:schemeClr>
            </a:gs>
            <a:gs pos="100000">
              <a:schemeClr val="phClr">
                <a:tint val="82000"/>
                <a:alpha val="7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00000"/>
              </a:schemeClr>
            </a:gs>
            <a:gs pos="100000">
              <a:schemeClr val="phClr">
                <a:shade val="88000"/>
                <a:lumMod val="88000"/>
              </a:schemeClr>
            </a:gs>
          </a:gsLst>
          <a:lin ang="5400000" scaled="1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5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shade val="96000"/>
                <a:hueMod val="100000"/>
                <a:satMod val="180000"/>
                <a:lumMod val="110000"/>
              </a:schemeClr>
            </a:gs>
            <a:gs pos="100000">
              <a:schemeClr val="phClr">
                <a:shade val="96000"/>
                <a:satMod val="160000"/>
                <a:lumMod val="100000"/>
              </a:schemeClr>
            </a:gs>
          </a:gsLst>
          <a:lin ang="4740000" scaled="1"/>
        </a:gradFill>
        <a:blipFill>
          <a:blip xmlns:r="http://schemas.openxmlformats.org/officeDocument/2006/relationships" r:embed="rId1"/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elestial" id="{C4BB2A3D-0E93-4C5F-B0D2-9D3FCE089CC5}" vid="{42E5908D-19A2-46FD-89FA-638B126129E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TM03457452[[fn=Celestial]]</Template>
  <TotalTime>71</TotalTime>
  <Words>417</Words>
  <Application>Microsoft Office PowerPoint</Application>
  <PresentationFormat>Widescreen</PresentationFormat>
  <Paragraphs>46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3" baseType="lpstr">
      <vt:lpstr>Arial</vt:lpstr>
      <vt:lpstr>Bell MT</vt:lpstr>
      <vt:lpstr>Calibri</vt:lpstr>
      <vt:lpstr>Calibri Light</vt:lpstr>
      <vt:lpstr>Times New Roman</vt:lpstr>
      <vt:lpstr>Celestial</vt:lpstr>
      <vt:lpstr>PowerPoint Presentation</vt:lpstr>
      <vt:lpstr>INTRODUCTION</vt:lpstr>
      <vt:lpstr>COMPONENTS USED </vt:lpstr>
      <vt:lpstr>WORKING PRINCIPLE</vt:lpstr>
      <vt:lpstr>    FUTURE SCOPE               APPLICATION</vt:lpstr>
      <vt:lpstr>LIMITATION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madhumitha.1562006@gmail.com</dc:creator>
  <cp:lastModifiedBy>Nadhiya S</cp:lastModifiedBy>
  <cp:revision>3</cp:revision>
  <dcterms:created xsi:type="dcterms:W3CDTF">2025-12-16T16:21:39Z</dcterms:created>
  <dcterms:modified xsi:type="dcterms:W3CDTF">2025-12-17T03:17:57Z</dcterms:modified>
</cp:coreProperties>
</file>